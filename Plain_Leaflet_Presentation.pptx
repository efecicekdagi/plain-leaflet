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embeddedFontLst>
    <p:embeddedFont>
      <p:font typeface="Sora" panose="020B0604020202020204" charset="0"/>
      <p:regular r:id="rId11"/>
    </p:embeddedFont>
    <p:embeddedFont>
      <p:font typeface="Sora ExtraLight" panose="020B0604020202020204" charset="0"/>
      <p:regular r:id="rId12"/>
    </p:embeddedFont>
    <p:embeddedFont>
      <p:font typeface="Sora Light" panose="020B0604020202020204" charset="0"/>
      <p:regular r:id="rId13"/>
    </p:embeddedFont>
    <p:embeddedFont>
      <p:font typeface="Sora SemiBold" panose="020B0604020202020204" charset="0"/>
      <p:regular r:id="rId14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5" d="100"/>
          <a:sy n="95" d="100"/>
        </p:scale>
        <p:origin x="17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927890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jpe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0553"/>
            <a:ext cx="6705432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50" kern="100" spc="63" dirty="0">
                <a:solidFill>
                  <a:srgbClr val="006ACC"/>
                </a:solidFill>
                <a:latin typeface="Sora ExtraLight" pitchFamily="34" charset="0"/>
                <a:cs typeface="Sora ExtraLight" pitchFamily="34" charset="-120"/>
              </a:rPr>
              <a:t>PLAIN LEAFLET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09585" y="1880930"/>
            <a:ext cx="6248244" cy="1341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4800" dirty="0">
                <a:solidFill>
                  <a:srgbClr val="0A3A5C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Plain Leaflet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609585" y="3072229"/>
            <a:ext cx="6248244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2000" dirty="0">
                <a:solidFill>
                  <a:srgbClr val="0A3A5C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Accessible, evidence-bound AI medication leaflets for older adults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09585" y="3729396"/>
            <a:ext cx="6248244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Sora ExtraLight" pitchFamily="34" charset="0"/>
                <a:ea typeface="Sora ExtraLight" pitchFamily="34" charset="-122"/>
                <a:cs typeface="Sora ExtraLight" pitchFamily="34" charset="-120"/>
              </a:rPr>
              <a:t>Large-print, plain-language leaflets, interaction alerts and pharmacist checklists for adults 65+ on multiple medications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09585" y="6138922"/>
            <a:ext cx="6705432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50" dirty="0">
                <a:solidFill>
                  <a:srgbClr val="0A3A5C"/>
                </a:solidFill>
                <a:latin typeface="Sora ExtraLight" pitchFamily="34" charset="0"/>
                <a:ea typeface="Sora ExtraLight" pitchFamily="34" charset="-122"/>
                <a:cs typeface="Sora ExtraLight" pitchFamily="34" charset="-120"/>
              </a:rPr>
              <a:t>Team: Burak Evren, Efe Çiçekdağı, Umut Türkmen, Semih Bekdaş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7315017" y="0"/>
            <a:ext cx="4876678" cy="6858000"/>
          </a:xfrm>
          <a:prstGeom prst="rect">
            <a:avLst/>
          </a:prstGeom>
          <a:solidFill>
            <a:srgbClr val="D4EC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96007" y="381000"/>
            <a:ext cx="4114697" cy="583634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583811"/>
            <a:ext cx="10972526" cy="446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3200" dirty="0">
                <a:solidFill>
                  <a:srgbClr val="0A3A5C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Complex leaflets put vulnerable groups at risk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09585" y="2124472"/>
            <a:ext cx="3454314" cy="2367062"/>
          </a:xfrm>
          <a:prstGeom prst="rect">
            <a:avLst/>
          </a:prstGeom>
          <a:solidFill>
            <a:srgbClr val="D4EC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914377" y="2491184"/>
            <a:ext cx="2844729" cy="685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5400" dirty="0">
                <a:solidFill>
                  <a:srgbClr val="000000"/>
                </a:solidFill>
                <a:latin typeface="Sora ExtraLight" pitchFamily="34" charset="0"/>
                <a:ea typeface="Sora ExtraLight" pitchFamily="34" charset="-122"/>
                <a:cs typeface="Sora ExtraLight" pitchFamily="34" charset="-120"/>
              </a:rPr>
              <a:t>$42B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914377" y="3292872"/>
            <a:ext cx="2844729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Sora ExtraLight" pitchFamily="34" charset="0"/>
                <a:ea typeface="Sora ExtraLight" pitchFamily="34" charset="-122"/>
                <a:cs typeface="Sora ExtraLight" pitchFamily="34" charset="-120"/>
              </a:rPr>
              <a:t>Yearly global cost of medication errors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14377" y="3896281"/>
            <a:ext cx="3149521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Sora ExtraLight" pitchFamily="34" charset="0"/>
                <a:ea typeface="Sora ExtraLight" pitchFamily="34" charset="-122"/>
                <a:cs typeface="Sora ExtraLight" pitchFamily="34" charset="-120"/>
              </a:rPr>
              <a:t>WHO, 2017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368691" y="2124472"/>
            <a:ext cx="3454314" cy="2367062"/>
          </a:xfrm>
          <a:prstGeom prst="rect">
            <a:avLst/>
          </a:prstGeom>
          <a:solidFill>
            <a:srgbClr val="D4EC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673483" y="2491184"/>
            <a:ext cx="2844729" cy="685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5400" dirty="0">
                <a:solidFill>
                  <a:srgbClr val="000000"/>
                </a:solidFill>
                <a:latin typeface="Sora ExtraLight" pitchFamily="34" charset="0"/>
                <a:ea typeface="Sora ExtraLight" pitchFamily="34" charset="-122"/>
                <a:cs typeface="Sora ExtraLight" pitchFamily="34" charset="-120"/>
              </a:rPr>
              <a:t>9.1M</a:t>
            </a:r>
            <a:endParaRPr lang="en-US" sz="5400" dirty="0"/>
          </a:p>
        </p:txBody>
      </p:sp>
      <p:sp>
        <p:nvSpPr>
          <p:cNvPr id="9" name="Text 7"/>
          <p:cNvSpPr/>
          <p:nvPr/>
        </p:nvSpPr>
        <p:spPr>
          <a:xfrm>
            <a:off x="4673483" y="3292872"/>
            <a:ext cx="2844729" cy="602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70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Sora ExtraLight" pitchFamily="34" charset="0"/>
                <a:ea typeface="Sora ExtraLight" pitchFamily="34" charset="-122"/>
                <a:cs typeface="Sora ExtraLight" pitchFamily="34" charset="-120"/>
              </a:rPr>
              <a:t>Older adults in Türkiye</a:t>
            </a:r>
            <a:endParaRPr lang="en-US" sz="1400" dirty="0"/>
          </a:p>
          <a:p>
            <a:pPr marL="0" indent="0" algn="l">
              <a:lnSpc>
                <a:spcPct val="117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Sora ExtraLight" pitchFamily="34" charset="0"/>
                <a:ea typeface="Sora ExtraLight" pitchFamily="34" charset="-122"/>
                <a:cs typeface="Sora ExtraLight" pitchFamily="34" charset="-120"/>
              </a:rPr>
              <a:t>10.6% of the population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73483" y="4001056"/>
            <a:ext cx="3149521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Sora ExtraLight" pitchFamily="34" charset="0"/>
                <a:ea typeface="Sora ExtraLight" pitchFamily="34" charset="-122"/>
                <a:cs typeface="Sora ExtraLight" pitchFamily="34" charset="-120"/>
              </a:rPr>
              <a:t>TÜİK, 2024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8127797" y="2124472"/>
            <a:ext cx="3454314" cy="2367062"/>
          </a:xfrm>
          <a:prstGeom prst="rect">
            <a:avLst/>
          </a:prstGeom>
          <a:solidFill>
            <a:srgbClr val="D4EC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432589" y="2491184"/>
            <a:ext cx="2844729" cy="685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5400" dirty="0">
                <a:solidFill>
                  <a:srgbClr val="000000"/>
                </a:solidFill>
                <a:latin typeface="Sora ExtraLight" pitchFamily="34" charset="0"/>
                <a:ea typeface="Sora ExtraLight" pitchFamily="34" charset="-122"/>
                <a:cs typeface="Sora ExtraLight" pitchFamily="34" charset="-120"/>
              </a:rPr>
              <a:t>1.75M</a:t>
            </a:r>
            <a:endParaRPr lang="en-US" sz="5400" dirty="0"/>
          </a:p>
        </p:txBody>
      </p:sp>
      <p:sp>
        <p:nvSpPr>
          <p:cNvPr id="13" name="Text 11"/>
          <p:cNvSpPr/>
          <p:nvPr/>
        </p:nvSpPr>
        <p:spPr>
          <a:xfrm>
            <a:off x="8432589" y="3292872"/>
            <a:ext cx="3149521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Sora ExtraLight" pitchFamily="34" charset="0"/>
                <a:ea typeface="Sora ExtraLight" pitchFamily="34" charset="-122"/>
                <a:cs typeface="Sora ExtraLight" pitchFamily="34" charset="-120"/>
              </a:rPr>
              <a:t>Older adults live alone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432589" y="3647440"/>
            <a:ext cx="3149521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Sora ExtraLight" pitchFamily="34" charset="0"/>
                <a:ea typeface="Sora ExtraLight" pitchFamily="34" charset="-122"/>
                <a:cs typeface="Sora ExtraLight" pitchFamily="34" charset="-120"/>
              </a:rPr>
              <a:t>TÜİK, 2024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09585" y="5654675"/>
            <a:ext cx="10972526" cy="19050"/>
          </a:xfrm>
          <a:prstGeom prst="roundRect">
            <a:avLst>
              <a:gd name="adj" fmla="val 49999"/>
            </a:avLst>
          </a:prstGeom>
          <a:solidFill>
            <a:srgbClr val="0A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09585" y="6035675"/>
            <a:ext cx="10972526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2000" dirty="0">
                <a:solidFill>
                  <a:srgbClr val="0A3A5C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Official inserts use dense jargon and tiny fonts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583811"/>
            <a:ext cx="10972526" cy="446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3200" dirty="0">
                <a:solidFill>
                  <a:srgbClr val="0A3A5C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Why it matters: SDG 10 and SDG 3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09585" y="3633688"/>
            <a:ext cx="5333867" cy="2175371"/>
          </a:xfrm>
          <a:prstGeom prst="rect">
            <a:avLst/>
          </a:prstGeom>
          <a:solidFill>
            <a:srgbClr val="D4EC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5176" y="3989288"/>
            <a:ext cx="444489" cy="4445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65176" y="4539516"/>
            <a:ext cx="4978275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50" kern="100" spc="63" dirty="0">
                <a:solidFill>
                  <a:srgbClr val="000000"/>
                </a:solidFill>
                <a:latin typeface="Sora ExtraLight" pitchFamily="34" charset="0"/>
                <a:ea typeface="Sora ExtraLight" pitchFamily="34" charset="-122"/>
                <a:cs typeface="Sora ExtraLight" pitchFamily="34" charset="-120"/>
              </a:rPr>
              <a:t>PRIMARY · SDG 10, TARGET 10.2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965176" y="4814094"/>
            <a:ext cx="4622684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Social inclusion at any age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965176" y="5204619"/>
            <a:ext cx="4978275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Sora ExtraLight" pitchFamily="34" charset="0"/>
                <a:ea typeface="Sora ExtraLight" pitchFamily="34" charset="-122"/>
                <a:cs typeface="Sora ExtraLight" pitchFamily="34" charset="-120"/>
              </a:rPr>
              <a:t>20px+ high-contrast UI and plain language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248244" y="3633688"/>
            <a:ext cx="5333867" cy="2175371"/>
          </a:xfrm>
          <a:prstGeom prst="rect">
            <a:avLst/>
          </a:prstGeom>
          <a:noFill/>
          <a:ln w="12700">
            <a:solidFill>
              <a:srgbClr val="2E6E9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6534" y="4001988"/>
            <a:ext cx="444489" cy="4445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616534" y="4552216"/>
            <a:ext cx="4965576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50" kern="100" spc="63" dirty="0">
                <a:solidFill>
                  <a:srgbClr val="006ACC"/>
                </a:solidFill>
                <a:latin typeface="Sora ExtraLight" pitchFamily="34" charset="0"/>
                <a:ea typeface="Sora ExtraLight" pitchFamily="34" charset="-122"/>
                <a:cs typeface="Sora ExtraLight" pitchFamily="34" charset="-120"/>
              </a:rPr>
              <a:t>CORE IMPACT · SDG 3, TARGET 3.8</a:t>
            </a:r>
            <a:endParaRPr lang="en-US" sz="1050" dirty="0"/>
          </a:p>
        </p:txBody>
      </p:sp>
      <p:sp>
        <p:nvSpPr>
          <p:cNvPr id="11" name="Text 7"/>
          <p:cNvSpPr/>
          <p:nvPr/>
        </p:nvSpPr>
        <p:spPr>
          <a:xfrm>
            <a:off x="6616534" y="4826794"/>
            <a:ext cx="4597285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2000" dirty="0">
                <a:solidFill>
                  <a:srgbClr val="0A3A5C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“Safe usage is an inseparable part of access.”</a:t>
            </a:r>
            <a:endParaRPr lang="en-US" sz="2000" dirty="0"/>
          </a:p>
        </p:txBody>
      </p:sp>
      <p:sp>
        <p:nvSpPr>
          <p:cNvPr id="12" name="Text 8"/>
          <p:cNvSpPr/>
          <p:nvPr/>
        </p:nvSpPr>
        <p:spPr>
          <a:xfrm>
            <a:off x="609585" y="6050359"/>
            <a:ext cx="11582110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Sora ExtraLight" pitchFamily="34" charset="0"/>
                <a:ea typeface="Sora ExtraLight" pitchFamily="34" charset="-122"/>
                <a:cs typeface="Sora ExtraLight" pitchFamily="34" charset="-120"/>
              </a:rPr>
              <a:t>Aligned with the WHO Global Patient Safety Challenge</a:t>
            </a:r>
            <a:endParaRPr lang="en-US" sz="1400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80550" y="1398290"/>
            <a:ext cx="2030560" cy="2030611"/>
          </a:xfrm>
          <a:prstGeom prst="rect">
            <a:avLst/>
          </a:prstGeom>
        </p:spPr>
      </p:pic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61040" y="1398290"/>
            <a:ext cx="2024905" cy="203061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8786" y="1070578"/>
            <a:ext cx="7213420" cy="8939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3200" dirty="0">
                <a:solidFill>
                  <a:srgbClr val="0A3A5C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From dense PDFs to 5 actionable cards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58786" y="2117328"/>
            <a:ext cx="7569011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Sora ExtraLight" pitchFamily="34" charset="0"/>
                <a:ea typeface="Sora ExtraLight" pitchFamily="34" charset="-122"/>
                <a:cs typeface="Sora ExtraLight" pitchFamily="34" charset="-120"/>
              </a:rPr>
              <a:t>1-click simplification of TİTCK PDFs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58786" y="2524919"/>
            <a:ext cx="3530512" cy="542230"/>
          </a:xfrm>
          <a:prstGeom prst="rect">
            <a:avLst/>
          </a:prstGeom>
          <a:solidFill>
            <a:srgbClr val="D4EC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11182" y="2689384"/>
            <a:ext cx="3225719" cy="237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What It's For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4241694" y="2524919"/>
            <a:ext cx="3530512" cy="542230"/>
          </a:xfrm>
          <a:prstGeom prst="rect">
            <a:avLst/>
          </a:prstGeom>
          <a:solidFill>
            <a:srgbClr val="D4EC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394090" y="2689384"/>
            <a:ext cx="3225719" cy="237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How to Use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558786" y="3219450"/>
            <a:ext cx="3530512" cy="542230"/>
          </a:xfrm>
          <a:prstGeom prst="rect">
            <a:avLst/>
          </a:prstGeom>
          <a:solidFill>
            <a:srgbClr val="D4EC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11182" y="3383915"/>
            <a:ext cx="3225719" cy="237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See a Doctor Immediately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4241694" y="3219450"/>
            <a:ext cx="3530512" cy="542230"/>
          </a:xfrm>
          <a:prstGeom prst="rect">
            <a:avLst/>
          </a:prstGeom>
          <a:solidFill>
            <a:srgbClr val="D4EC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394090" y="3383915"/>
            <a:ext cx="3225719" cy="237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Side Effects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558786" y="3913981"/>
            <a:ext cx="3530512" cy="567630"/>
          </a:xfrm>
          <a:prstGeom prst="rect">
            <a:avLst/>
          </a:prstGeom>
          <a:solidFill>
            <a:srgbClr val="D4EC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11182" y="4078446"/>
            <a:ext cx="3225719" cy="237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Storage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4241694" y="3913981"/>
            <a:ext cx="3530512" cy="567630"/>
          </a:xfrm>
          <a:prstGeom prst="rect">
            <a:avLst/>
          </a:prstGeom>
          <a:noFill/>
          <a:ln w="12700">
            <a:solidFill>
              <a:srgbClr val="2E6E9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406790" y="4091146"/>
            <a:ext cx="3200320" cy="237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700" dirty="0">
                <a:solidFill>
                  <a:srgbClr val="0A3A5C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Plus Pharmacist Questions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558786" y="4640362"/>
            <a:ext cx="7569011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Sora ExtraLight" pitchFamily="34" charset="0"/>
                <a:ea typeface="Sora ExtraLight" pitchFamily="34" charset="-122"/>
                <a:cs typeface="Sora ExtraLight" pitchFamily="34" charset="-120"/>
              </a:rPr>
              <a:t>Multi-drug safety bag: red alert cards for active-ingredient warnings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58786" y="5092402"/>
            <a:ext cx="7213320" cy="19050"/>
          </a:xfrm>
          <a:prstGeom prst="roundRect">
            <a:avLst>
              <a:gd name="adj" fmla="val 49999"/>
            </a:avLst>
          </a:prstGeom>
          <a:solidFill>
            <a:srgbClr val="0A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58786" y="5314652"/>
            <a:ext cx="7213420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Golden rule:</a:t>
            </a:r>
            <a:r>
              <a:rPr lang="en-US" sz="1400" dirty="0">
                <a:solidFill>
                  <a:srgbClr val="000000"/>
                </a:solidFill>
                <a:latin typeface="Sora ExtraLight" pitchFamily="34" charset="0"/>
                <a:ea typeface="Sora ExtraLight" pitchFamily="34" charset="-122"/>
                <a:cs typeface="Sora ExtraLight" pitchFamily="34" charset="-120"/>
              </a:rPr>
              <a:t> The AI never adds outside information; every bullet point is backed by an exact quote from the official leaflet.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8127797" y="0"/>
            <a:ext cx="4063898" cy="6858000"/>
          </a:xfrm>
          <a:prstGeom prst="rect">
            <a:avLst/>
          </a:prstGeom>
          <a:solidFill>
            <a:srgbClr val="D4EC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9272BF73-A063-5FCE-00D8-E09ABBDB69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7548" y="467163"/>
            <a:ext cx="3484395" cy="607093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8786" y="633570"/>
            <a:ext cx="11074123" cy="446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3200" dirty="0">
                <a:solidFill>
                  <a:srgbClr val="0A3A5C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Engineered for reliability</a:t>
            </a:r>
            <a:endParaRPr lang="en-US" sz="32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8786" y="1230331"/>
            <a:ext cx="5305590" cy="2984401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58786" y="4214732"/>
            <a:ext cx="5384665" cy="1929394"/>
          </a:xfrm>
          <a:prstGeom prst="rect">
            <a:avLst/>
          </a:prstGeom>
          <a:solidFill>
            <a:srgbClr val="D4EC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761981" y="4364513"/>
            <a:ext cx="4978275" cy="15790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10000"/>
          </a:bodyPr>
          <a:lstStyle/>
          <a:p>
            <a:r>
              <a:rPr lang="en-US" b="1" dirty="0"/>
              <a:t>Complex Leaflet Sentence: </a:t>
            </a:r>
            <a:r>
              <a:rPr lang="en-US" dirty="0"/>
              <a:t>If you notice swelling of the face, lips, tongue or throat, stop taking this medicine and contact your doctor immediately</a:t>
            </a:r>
            <a:br>
              <a:rPr lang="en-US" dirty="0"/>
            </a:br>
            <a:endParaRPr lang="en-US" dirty="0"/>
          </a:p>
          <a:p>
            <a:r>
              <a:rPr lang="en-US" b="1" dirty="0"/>
              <a:t>Simplified Sentence: </a:t>
            </a:r>
            <a:r>
              <a:rPr lang="en-US" dirty="0"/>
              <a:t>If your face or throat swells, stop and call your doctor now.</a:t>
            </a:r>
            <a:br>
              <a:rPr lang="en-US" dirty="0"/>
            </a:br>
            <a:endParaRPr lang="en-US" sz="14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DE258F1-93AA-6D5C-C709-BCCFBC0D493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8243" y="2123693"/>
            <a:ext cx="5809003" cy="281791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8786" y="881797"/>
            <a:ext cx="11074123" cy="6705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4800" dirty="0">
                <a:solidFill>
                  <a:srgbClr val="0A3A5C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How We Prove It Works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558786" y="1689795"/>
            <a:ext cx="11074123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2000" dirty="0">
                <a:solidFill>
                  <a:srgbClr val="0A3A5C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Tested on 10 Official Medication Leaflets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58786" y="2080320"/>
            <a:ext cx="3488146" cy="3525441"/>
          </a:xfrm>
          <a:prstGeom prst="rect">
            <a:avLst/>
          </a:prstGeom>
          <a:solidFill>
            <a:srgbClr val="E3EE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63578" y="2385120"/>
            <a:ext cx="685188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63578" y="2649280"/>
            <a:ext cx="2878562" cy="5028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Two-Step Fact Check (Zero Hallucination)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63578" y="3265785"/>
            <a:ext cx="2878562" cy="20351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84480" indent="-284480" algn="l">
              <a:lnSpc>
                <a:spcPct val="117000"/>
              </a:lnSpc>
              <a:buSzPct val="100000"/>
              <a:buChar char="•"/>
            </a:pPr>
            <a:r>
              <a:rPr lang="en-US" sz="1400" b="1" dirty="0">
                <a:solidFill>
                  <a:srgbClr val="000000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Code Check:</a:t>
            </a:r>
            <a:r>
              <a:rPr lang="en-US" sz="1400" dirty="0">
                <a:solidFill>
                  <a:srgbClr val="000000"/>
                </a:solidFill>
                <a:latin typeface="Sora ExtraLight" pitchFamily="34" charset="0"/>
                <a:ea typeface="Sora ExtraLight" pitchFamily="34" charset="-122"/>
                <a:cs typeface="Sora ExtraLight" pitchFamily="34" charset="-120"/>
              </a:rPr>
              <a:t> Python verifies that every quote actually exists in the official PDF (85%+ match).</a:t>
            </a:r>
            <a:endParaRPr lang="en-US" sz="1400" dirty="0"/>
          </a:p>
          <a:p>
            <a:pPr marL="284480" indent="-284480" algn="l">
              <a:lnSpc>
                <a:spcPct val="117000"/>
              </a:lnSpc>
              <a:buSzPct val="100000"/>
              <a:buChar char="•"/>
            </a:pPr>
            <a:r>
              <a:rPr lang="en-US" sz="1400" b="1" dirty="0">
                <a:solidFill>
                  <a:srgbClr val="000000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AI Verifier:</a:t>
            </a:r>
            <a:r>
              <a:rPr lang="en-US" sz="1400" dirty="0">
                <a:solidFill>
                  <a:srgbClr val="000000"/>
                </a:solidFill>
                <a:latin typeface="Sora ExtraLight" pitchFamily="34" charset="0"/>
                <a:ea typeface="Sora ExtraLight" pitchFamily="34" charset="-122"/>
                <a:cs typeface="Sora ExtraLight" pitchFamily="34" charset="-120"/>
              </a:rPr>
              <a:t> A second AI checks that simplified sentences never add extra medical claims.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351725" y="2080320"/>
            <a:ext cx="3488146" cy="3525441"/>
          </a:xfrm>
          <a:prstGeom prst="rect">
            <a:avLst/>
          </a:prstGeom>
          <a:solidFill>
            <a:srgbClr val="E3EE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656517" y="2385120"/>
            <a:ext cx="721104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56517" y="2649280"/>
            <a:ext cx="2878562" cy="5028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Readability Jump (</a:t>
            </a:r>
            <a:r>
              <a:rPr lang="en-US" dirty="0">
                <a:solidFill>
                  <a:srgbClr val="000000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Flesch</a:t>
            </a:r>
            <a:r>
              <a:rPr lang="en-US" sz="1800" dirty="0">
                <a:solidFill>
                  <a:srgbClr val="000000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 Score, 0–100)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656517" y="3265785"/>
            <a:ext cx="2878562" cy="12886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84480" indent="-284480" algn="l">
              <a:lnSpc>
                <a:spcPct val="117000"/>
              </a:lnSpc>
              <a:buSzPct val="100000"/>
              <a:buChar char="•"/>
            </a:pPr>
            <a:r>
              <a:rPr lang="en-US" sz="1400" b="1" dirty="0">
                <a:solidFill>
                  <a:srgbClr val="000000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Original Leaflet:</a:t>
            </a:r>
            <a:r>
              <a:rPr lang="en-US" sz="1400" dirty="0">
                <a:solidFill>
                  <a:srgbClr val="000000"/>
                </a:solidFill>
                <a:latin typeface="Sora ExtraLight" pitchFamily="34" charset="0"/>
                <a:ea typeface="Sora ExtraLight" pitchFamily="34" charset="-122"/>
                <a:cs typeface="Sora ExtraLight" pitchFamily="34" charset="-120"/>
              </a:rPr>
              <a:t> 49.2 / 100 — Hard &amp; technical jargon.</a:t>
            </a:r>
            <a:endParaRPr lang="en-US" sz="1400" dirty="0"/>
          </a:p>
          <a:p>
            <a:pPr marL="284480" indent="-284480" algn="l">
              <a:lnSpc>
                <a:spcPct val="117000"/>
              </a:lnSpc>
              <a:buSzPct val="100000"/>
              <a:buChar char="•"/>
            </a:pPr>
            <a:r>
              <a:rPr lang="en-US" sz="1400" b="1" dirty="0">
                <a:solidFill>
                  <a:srgbClr val="000000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Our Simplified Output:</a:t>
            </a:r>
            <a:r>
              <a:rPr lang="en-US" sz="1400" dirty="0">
                <a:solidFill>
                  <a:srgbClr val="000000"/>
                </a:solidFill>
                <a:latin typeface="Sora ExtraLight" pitchFamily="34" charset="0"/>
                <a:ea typeface="Sora ExtraLight" pitchFamily="34" charset="-122"/>
                <a:cs typeface="Sora ExtraLight" pitchFamily="34" charset="-120"/>
              </a:rPr>
              <a:t> 65.1 / 100 — Easy to read for 65+ seniors.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144663" y="2080320"/>
            <a:ext cx="3488246" cy="3525441"/>
          </a:xfrm>
          <a:prstGeom prst="rect">
            <a:avLst/>
          </a:prstGeom>
          <a:solidFill>
            <a:srgbClr val="E3EE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8449456" y="2385120"/>
            <a:ext cx="720905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449456" y="2649280"/>
            <a:ext cx="2878661" cy="5028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Human Audit (</a:t>
            </a:r>
            <a:r>
              <a:rPr lang="en-US" dirty="0">
                <a:solidFill>
                  <a:srgbClr val="000000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45</a:t>
            </a:r>
            <a:r>
              <a:rPr lang="en-US" sz="1800" dirty="0">
                <a:solidFill>
                  <a:srgbClr val="000000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 Independent Checks)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449456" y="3265785"/>
            <a:ext cx="2878661" cy="17863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84480" indent="-284480" algn="l">
              <a:lnSpc>
                <a:spcPct val="117000"/>
              </a:lnSpc>
              <a:buSzPct val="100000"/>
              <a:buChar char="•"/>
            </a:pPr>
            <a:r>
              <a:rPr lang="en-US" sz="1400" b="1" dirty="0">
                <a:solidFill>
                  <a:srgbClr val="000000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86.7% Faithfulness:</a:t>
            </a:r>
            <a:r>
              <a:rPr lang="en-US" sz="1400" dirty="0">
                <a:solidFill>
                  <a:srgbClr val="000000"/>
                </a:solidFill>
                <a:latin typeface="Sora ExtraLight" pitchFamily="34" charset="0"/>
                <a:ea typeface="Sora ExtraLight" pitchFamily="34" charset="-122"/>
                <a:cs typeface="Sora ExtraLight" pitchFamily="34" charset="-120"/>
              </a:rPr>
              <a:t> Every simplified bullet stays 100% true to the official leaflet.</a:t>
            </a:r>
            <a:endParaRPr lang="en-US" sz="1400" dirty="0"/>
          </a:p>
          <a:p>
            <a:pPr marL="284480" indent="-284480" algn="l">
              <a:lnSpc>
                <a:spcPct val="117000"/>
              </a:lnSpc>
              <a:buSzPct val="100000"/>
              <a:buChar char="•"/>
            </a:pPr>
            <a:r>
              <a:rPr lang="en-US" sz="1400" b="1" dirty="0">
                <a:solidFill>
                  <a:srgbClr val="000000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8 Unsafe Claims Removed:</a:t>
            </a:r>
            <a:r>
              <a:rPr lang="en-US" sz="1400" dirty="0">
                <a:solidFill>
                  <a:srgbClr val="000000"/>
                </a:solidFill>
                <a:latin typeface="Sora ExtraLight" pitchFamily="34" charset="0"/>
                <a:ea typeface="Sora ExtraLight" pitchFamily="34" charset="-122"/>
                <a:cs typeface="Sora ExtraLight" pitchFamily="34" charset="-120"/>
              </a:rPr>
              <a:t> Automatically caught and filtered out by our verifier.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558411"/>
            <a:ext cx="10972526" cy="446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3200" dirty="0">
                <a:solidFill>
                  <a:srgbClr val="0A3A5C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Guardrails for a vulnerable user group</a:t>
            </a:r>
            <a:endParaRPr lang="en-US" sz="3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23395264"/>
              </p:ext>
            </p:extLst>
          </p:nvPr>
        </p:nvGraphicFramePr>
        <p:xfrm>
          <a:off x="609585" y="1742379"/>
          <a:ext cx="10972526" cy="4409765"/>
        </p:xfrm>
        <a:graphic>
          <a:graphicData uri="http://schemas.openxmlformats.org/drawingml/2006/table">
            <a:tbl>
              <a:tblPr/>
              <a:tblGrid>
                <a:gridCol w="373063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418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8885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Identified Risk</a:t>
                      </a:r>
                      <a:endParaRPr lang="en-US" sz="140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203195" marR="203195" marT="228594" marB="228594" anchor="ctr">
                    <a:lnL w="12700" cap="flat" cmpd="sng" algn="ctr">
                      <a:solidFill>
                        <a:srgbClr val="D4E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E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E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6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C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Mitigation</a:t>
                      </a:r>
                      <a:endParaRPr lang="en-US" sz="140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203195" marR="203195" marT="228594" marB="228594" anchor="ctr">
                    <a:lnL w="12700" cap="flat" cmpd="sng" algn="ctr">
                      <a:solidFill>
                        <a:srgbClr val="D4E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E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E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6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8885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Hallucination / wrong dosage</a:t>
                      </a:r>
                      <a:endParaRPr lang="en-US" sz="140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203195" marR="203195" marT="228594" marB="22859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6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6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Strict grounding (kanit), no personalized dosing, dual-layer verifier</a:t>
                      </a:r>
                      <a:endParaRPr lang="en-US" sz="140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203195" marR="203195" marT="228594" marB="22859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6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6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8885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LLM error in drug interactions</a:t>
                      </a:r>
                      <a:endParaRPr lang="en-US" sz="140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203195" marR="203195" marT="228594" marB="22859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6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6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No LLM: deterministic Python regex on active ingredients</a:t>
                      </a:r>
                      <a:endParaRPr lang="en-US" sz="140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203195" marR="203195" marT="228594" marB="22859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6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6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6440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Accessibility and data privacy</a:t>
                      </a:r>
                      <a:endParaRPr lang="en-US" sz="140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203195" marR="203195" marT="228594" marB="22859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6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6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20px+ high-contrast UI, persistent disclaimer banner, in-memory session only</a:t>
                      </a:r>
                      <a:endParaRPr lang="en-US" sz="140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203195" marR="203195" marT="228594" marB="22859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6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6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7880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Known limitation and adversarial test</a:t>
                      </a:r>
                      <a:endParaRPr lang="en-US" sz="140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203195" marR="203195" marT="228594" marB="22859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6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latin typeface="Sora" panose="020B0604020202020204" charset="0"/>
                          <a:cs typeface="Sora" panose="020B0604020202020204" charset="0"/>
                        </a:rPr>
                        <a:t>Misses unlisted drug classes in rule-based searches; successfully blocks hidden prompt injection attacks on dosages.</a:t>
                      </a:r>
                      <a:endParaRPr lang="en-US" sz="140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203195" marR="203195" marT="228594" marB="22859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6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595948"/>
            <a:ext cx="10972526" cy="1341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4800" dirty="0">
                <a:solidFill>
                  <a:srgbClr val="0A3A5C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Safe medication understanding for everyone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609585" y="2914452"/>
            <a:ext cx="5333867" cy="1854696"/>
          </a:xfrm>
          <a:prstGeom prst="rect">
            <a:avLst/>
          </a:prstGeom>
          <a:solidFill>
            <a:srgbClr val="D4EC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939776" y="3245604"/>
            <a:ext cx="5003675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50" kern="100" spc="63" dirty="0">
                <a:solidFill>
                  <a:srgbClr val="000000"/>
                </a:solidFill>
                <a:latin typeface="Sora ExtraLight" pitchFamily="34" charset="0"/>
                <a:ea typeface="Sora ExtraLight" pitchFamily="34" charset="-122"/>
                <a:cs typeface="Sora ExtraLight" pitchFamily="34" charset="-120"/>
              </a:rPr>
              <a:t>NOW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939776" y="3520182"/>
            <a:ext cx="4673483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Unreadable medical texts become safe, verifiable guidance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39776" y="4190107"/>
            <a:ext cx="5003675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Sora ExtraLight" pitchFamily="34" charset="0"/>
                <a:ea typeface="Sora ExtraLight" pitchFamily="34" charset="-122"/>
                <a:cs typeface="Sora ExtraLight" pitchFamily="34" charset="-120"/>
              </a:rPr>
              <a:t>For seniors and low-literacy users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248244" y="2914452"/>
            <a:ext cx="5333867" cy="1854696"/>
          </a:xfrm>
          <a:prstGeom prst="rect">
            <a:avLst/>
          </a:prstGeom>
          <a:noFill/>
          <a:ln w="12700">
            <a:solidFill>
              <a:srgbClr val="2E6E9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591135" y="3258304"/>
            <a:ext cx="4990975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50" kern="100" spc="63" dirty="0">
                <a:solidFill>
                  <a:srgbClr val="006ACC"/>
                </a:solidFill>
                <a:latin typeface="Sora ExtraLight" pitchFamily="34" charset="0"/>
                <a:ea typeface="Sora ExtraLight" pitchFamily="34" charset="-122"/>
                <a:cs typeface="Sora ExtraLight" pitchFamily="34" charset="-120"/>
              </a:rPr>
              <a:t>NEXT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6591135" y="3548757"/>
            <a:ext cx="4648084" cy="8354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84480" indent="-284480" algn="l">
              <a:lnSpc>
                <a:spcPct val="117000"/>
              </a:lnSpc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Sora ExtraLight" pitchFamily="34" charset="0"/>
                <a:ea typeface="Sora ExtraLight" pitchFamily="34" charset="-122"/>
                <a:cs typeface="Sora ExtraLight" pitchFamily="34" charset="-120"/>
              </a:rPr>
              <a:t>OCR camera scanning</a:t>
            </a:r>
            <a:endParaRPr lang="en-US" sz="1400" dirty="0"/>
          </a:p>
          <a:p>
            <a:pPr marL="284480" indent="-284480" algn="l">
              <a:lnSpc>
                <a:spcPct val="117000"/>
              </a:lnSpc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Sora ExtraLight" pitchFamily="34" charset="0"/>
                <a:ea typeface="Sora ExtraLight" pitchFamily="34" charset="-122"/>
                <a:cs typeface="Sora ExtraLight" pitchFamily="34" charset="-120"/>
              </a:rPr>
              <a:t>Browser text-to-speech (tr-TR)</a:t>
            </a:r>
            <a:endParaRPr lang="en-US" sz="1400" dirty="0"/>
          </a:p>
          <a:p>
            <a:pPr marL="284480" indent="-284480" algn="l">
              <a:lnSpc>
                <a:spcPct val="117000"/>
              </a:lnSpc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Sora ExtraLight" pitchFamily="34" charset="0"/>
                <a:ea typeface="Sora ExtraLight" pitchFamily="34" charset="-122"/>
                <a:cs typeface="Sora ExtraLight" pitchFamily="34" charset="-120"/>
              </a:rPr>
              <a:t>Printable 1-page summary cards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09585" y="5828209"/>
            <a:ext cx="10972526" cy="19050"/>
          </a:xfrm>
          <a:prstGeom prst="roundRect">
            <a:avLst>
              <a:gd name="adj" fmla="val 49999"/>
            </a:avLst>
          </a:prstGeom>
          <a:solidFill>
            <a:srgbClr val="0A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09585" y="6050459"/>
            <a:ext cx="11582110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Sora ExtraLight" pitchFamily="34" charset="0"/>
                <a:ea typeface="Sora ExtraLight" pitchFamily="34" charset="-122"/>
                <a:cs typeface="Sora ExtraLight" pitchFamily="34" charset="-120"/>
              </a:rPr>
              <a:t>Thank you!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98</TotalTime>
  <Words>503</Words>
  <Application>Microsoft Office PowerPoint</Application>
  <PresentationFormat>Widescreen</PresentationFormat>
  <Paragraphs>79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Sora ExtraLight</vt:lpstr>
      <vt:lpstr>Sora</vt:lpstr>
      <vt:lpstr>Arial</vt:lpstr>
      <vt:lpstr>Sora SemiBold</vt:lpstr>
      <vt:lpstr>Sora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UMUT TURKMEN</cp:lastModifiedBy>
  <cp:revision>6</cp:revision>
  <dcterms:created xsi:type="dcterms:W3CDTF">2026-10-17T14:32:21Z</dcterms:created>
  <dcterms:modified xsi:type="dcterms:W3CDTF">2026-10-17T22:33:33Z</dcterms:modified>
</cp:coreProperties>
</file>